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70865"/>
            <a:ext cx="6429375" cy="198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MONEYVERSE</a:t>
            </a:r>
            <a:r>
              <a:rPr lang="en-US" sz="43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43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SEO AUDIT &amp; 2026</a:t>
            </a:r>
            <a:r>
              <a:rPr lang="en-US" sz="43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43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KEYWORD STRATEGY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71500" y="3193954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Escaping the Fiat Leak through Organic Visibility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3899399"/>
            <a:ext cx="14483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</a:t>
            </a:r>
            <a:r>
              <a:rPr lang="en-US" sz="10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Manus AI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305645" y="3899399"/>
            <a:ext cx="14805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</a:t>
            </a:r>
            <a:r>
              <a:rPr lang="en-US" sz="10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SEO SWOT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51930"/>
            <a:ext cx="8001000" cy="357187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51930"/>
            <a:ext cx="3993356" cy="17787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37680"/>
            <a:ext cx="342185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835944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High-signal, long-form research content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" y="2101686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USP: Bitcoin-only &amp; Actionable Protocol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7250" y="2367428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tools (DCA/Halving) drive engagement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9144" y="1151930"/>
            <a:ext cx="3993356" cy="17787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864894" y="1437680"/>
            <a:ext cx="342185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64894" y="1835944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Minimalist design risks "thin content" signals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64894" y="2101686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linking gaps between blog and product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64894" y="2367428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use of structured data (Schema)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" y="2945011"/>
            <a:ext cx="3993356" cy="17787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" y="3230761"/>
            <a:ext cx="342185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7250" y="3629025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Targeting "Operator" long-tail keywords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7250" y="3894767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Niche focus on African Monetary Sovereignty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7250" y="4160509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content integration for complex topics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9144" y="2945011"/>
            <a:ext cx="3993356" cy="17787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864894" y="3230761"/>
            <a:ext cx="342185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THREATS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64894" y="3629025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institutional competition in BTC education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64894" y="3894767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algorithm volatility in financial niche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64894" y="4160509"/>
            <a:ext cx="3421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saturation in the crypto space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71875" cy="51435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762720"/>
            <a:ext cx="2857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052042"/>
            <a:ext cx="28575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82%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428625" y="2966442"/>
            <a:ext cx="2857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M2 EXPANSION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SINCE 2020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43375" y="571500"/>
            <a:ext cx="44291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Q1: THE FIAT LEAK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143375" y="1294805"/>
            <a:ext cx="1675209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PRIMARY KEYWORDS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43375" y="1705570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M2 money supply 2026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43375" y="2014538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Purchasing power loss calculator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43375" y="2323505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Real inflation vs CPI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43375" y="2811066"/>
            <a:ext cx="4429125" cy="10715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4143375" y="2811066"/>
            <a:ext cx="35719" cy="1071563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4" name="Text 11"/>
          <p:cNvSpPr/>
          <p:nvPr/>
        </p:nvSpPr>
        <p:spPr>
          <a:xfrm>
            <a:off x="4357688" y="3025378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GOAL: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 mathematical urgency.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the "Fiat Leak" not as an opinion, but as a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loss of purchasing power that requires an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protocol.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71875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3557588" y="0"/>
            <a:ext cx="14288" cy="51435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748433"/>
            <a:ext cx="2857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037755"/>
            <a:ext cx="285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77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21M</a:t>
            </a:r>
            <a:endParaRPr lang="en-US" sz="7700" dirty="0"/>
          </a:p>
        </p:txBody>
      </p:sp>
      <p:sp>
        <p:nvSpPr>
          <p:cNvPr id="7" name="Text 4"/>
          <p:cNvSpPr/>
          <p:nvPr/>
        </p:nvSpPr>
        <p:spPr>
          <a:xfrm>
            <a:off x="428625" y="2980730"/>
            <a:ext cx="2857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ABSOLUTE</a:t>
            </a:r>
            <a:r>
              <a:rPr lang="en-US" sz="12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1200" b="1" dirty="0">
                <a:solidFill>
                  <a:srgbClr val="F793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SCARCITY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43375" y="571500"/>
            <a:ext cx="44291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Q2: THE SOLUTION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143375" y="1294805"/>
            <a:ext cx="1675209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PRIMARY KEYWORDS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43375" y="1705570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Bitcoin halving cycle 2028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43375" y="2014538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21 million hard cap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43375" y="2323505"/>
            <a:ext cx="4429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Proof of work vs Proof of stake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43375" y="2811066"/>
            <a:ext cx="4429125" cy="10715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4143375" y="2811066"/>
            <a:ext cx="35719" cy="1071563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5" name="Text 12"/>
          <p:cNvSpPr/>
          <p:nvPr/>
        </p:nvSpPr>
        <p:spPr>
          <a:xfrm>
            <a:off x="4357688" y="3025378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GOAL: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Pivot from the problem to the solution.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Bitcoin as a singular, unrepeatable discovery.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Educate on the mechanics of scarcity to build long-term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Q3: THE EXECUTION &amp; SOVEREIGNTY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94805"/>
            <a:ext cx="8001000" cy="32146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94805"/>
            <a:ext cx="2491383" cy="32146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580555"/>
            <a:ext cx="191988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57250" y="1778794"/>
            <a:ext cx="191988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Self-Custody Protocol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7250" y="2460296"/>
            <a:ext cx="191988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users from exchanges to hardware. Focus on the 'Not your keys, not your coins' imperative through practical, high-signal guides.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77170" y="1294805"/>
            <a:ext cx="2491383" cy="32146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362920" y="1580555"/>
            <a:ext cx="191988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CONTEXT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62920" y="1778794"/>
            <a:ext cx="191988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Monetary Sovereignty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62920" y="2460296"/>
            <a:ext cx="191988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Targeting the African context. Bitcoin as an alternative to the CFA franc and a tool for remittance and wealth preservation in emerging markets.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82841" y="1294805"/>
            <a:ext cx="2989659" cy="32146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868591" y="1580555"/>
            <a:ext cx="24181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KEYWORDS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68591" y="1778794"/>
            <a:ext cx="2418159" cy="1643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Best hardware wallet 2026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68591" y="2050256"/>
            <a:ext cx="2418159" cy="1643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Bitcoin self-custody guide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68591" y="2321719"/>
            <a:ext cx="2418159" cy="1643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CFA franc alternative bitcoin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68591" y="2593181"/>
            <a:ext cx="2418159" cy="1643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Ibrahim Traoré bitcoin policy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0"/>
            <a:ext cx="14288" cy="51435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05508"/>
            <a:ext cx="2500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04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1494830"/>
            <a:ext cx="2500313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</a:t>
            </a:r>
            <a:r>
              <a:rPr lang="en-US" sz="39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9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LONG</a:t>
            </a:r>
            <a:r>
              <a:rPr lang="en-US" sz="39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9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GAME.</a:t>
            </a:r>
            <a:endParaRPr lang="en-US" sz="3950" dirty="0"/>
          </a:p>
        </p:txBody>
      </p:sp>
      <p:sp>
        <p:nvSpPr>
          <p:cNvPr id="7" name="Text 4"/>
          <p:cNvSpPr/>
          <p:nvPr/>
        </p:nvSpPr>
        <p:spPr>
          <a:xfrm>
            <a:off x="428625" y="3252192"/>
            <a:ext cx="2500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accumulation to wealth preservation and generational transfer.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86188" y="571500"/>
            <a:ext cx="4786313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Q4: THE LEGACY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3786188" y="1294805"/>
            <a:ext cx="4786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 KEYWORDS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86188" y="1619845"/>
            <a:ext cx="4786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Bitcoin exit strategy 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86188" y="1944886"/>
            <a:ext cx="4786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Bitcoin inheritance plan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786188" y="2269927"/>
            <a:ext cx="4786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DCA strategy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786188" y="2844998"/>
            <a:ext cx="4786313" cy="1285875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4" name="Text 11"/>
          <p:cNvSpPr/>
          <p:nvPr/>
        </p:nvSpPr>
        <p:spPr>
          <a:xfrm>
            <a:off x="4000500" y="3059311"/>
            <a:ext cx="43576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STRATEGIC OBJECTIVE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00500" y="3332559"/>
            <a:ext cx="435768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generational wealth and long-term protocols. Position Moneyverse as the authority for "what happens next"—ensuring the stack survives both market cycles and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SEO RECOMMENDATIONS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64481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027039"/>
            <a:ext cx="247648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STRUCTURED DATA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2425303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Schema.org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markup for all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Masterclass modules to enable rich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snippets in SERPs.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1500" y="3149612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FAQ Schema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for research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articles to capture more vertical real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estate on Google.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31" y="1564481"/>
            <a:ext cx="214313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33731" y="2027039"/>
            <a:ext cx="247650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333731" y="2425303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for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Web Vitals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specifically LCP (Largest Contentful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Paint) and CLS (Cumulative Layout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Shift).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333731" y="3355330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Leverage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Caching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via CDN to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ensure sub-second load times for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"operators."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1" y="1564481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95991" y="2027039"/>
            <a:ext cx="247648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095991" y="2425303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Transition to a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Headless CMS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decouple content from presentation for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SEO metadata control.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095991" y="3149612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Server-Side Rendering (SSR)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for all dynamic tools to guarantee full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engine crawlability.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71500" y="4651139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MV-TECH-PROTOCOL // V1.0 //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CONTENT ROADMAP &amp; DISTRIBUTION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8644" y="1159073"/>
            <a:ext cx="1030514" cy="278606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Text 2"/>
          <p:cNvSpPr/>
          <p:nvPr/>
        </p:nvSpPr>
        <p:spPr>
          <a:xfrm>
            <a:off x="578644" y="1159073"/>
            <a:ext cx="1030514" cy="278606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MONTH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609158" y="1159073"/>
            <a:ext cx="1368000" cy="278606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7" name="Text 4"/>
          <p:cNvSpPr/>
          <p:nvPr/>
        </p:nvSpPr>
        <p:spPr>
          <a:xfrm>
            <a:off x="1609158" y="1159073"/>
            <a:ext cx="1368000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THEME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77158" y="1159073"/>
            <a:ext cx="2444948" cy="278606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9" name="Text 6"/>
          <p:cNvSpPr/>
          <p:nvPr/>
        </p:nvSpPr>
        <p:spPr>
          <a:xfrm>
            <a:off x="2977158" y="1159073"/>
            <a:ext cx="2444948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FOCUS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8644" y="1437680"/>
            <a:ext cx="1030514" cy="226814"/>
          </a:xfrm>
          <a:prstGeom prst="rect">
            <a:avLst/>
          </a:prstGeom>
          <a:noFill/>
          <a:ln/>
        </p:spPr>
        <p:txBody>
          <a:bodyPr wrap="non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- MAR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09158" y="1437680"/>
            <a:ext cx="1368000" cy="226814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977158" y="1437680"/>
            <a:ext cx="2444948" cy="226814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Fiat Audit &amp; History of Money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8644" y="1664494"/>
            <a:ext cx="1030514" cy="230386"/>
          </a:xfrm>
          <a:prstGeom prst="rect">
            <a:avLst/>
          </a:prstGeom>
          <a:noFill/>
          <a:ln/>
        </p:spPr>
        <p:txBody>
          <a:bodyPr wrap="non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- JUN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09158" y="1664494"/>
            <a:ext cx="1368000" cy="230386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Protocol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77158" y="1664494"/>
            <a:ext cx="2444948" cy="230386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Self-Custody &amp; 4-Year Cycle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8644" y="1894880"/>
            <a:ext cx="1030514" cy="230386"/>
          </a:xfrm>
          <a:prstGeom prst="rect">
            <a:avLst/>
          </a:prstGeom>
          <a:noFill/>
          <a:ln/>
        </p:spPr>
        <p:txBody>
          <a:bodyPr wrap="non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- SEP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609158" y="1894880"/>
            <a:ext cx="1368000" cy="230386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Execution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977158" y="1894880"/>
            <a:ext cx="2444948" cy="230386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Deep Dive &amp; Macro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8644" y="2125266"/>
            <a:ext cx="1030514" cy="233958"/>
          </a:xfrm>
          <a:prstGeom prst="rect">
            <a:avLst/>
          </a:prstGeom>
          <a:noFill/>
          <a:ln/>
        </p:spPr>
        <p:txBody>
          <a:bodyPr wrap="non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- DEC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609158" y="2125266"/>
            <a:ext cx="1368000" cy="233958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Legacy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77158" y="2125266"/>
            <a:ext cx="2444948" cy="233958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Strategy &amp; Inheritance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" y="2580680"/>
            <a:ext cx="48577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FORMAT STRATEGY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1500" y="2762845"/>
            <a:ext cx="4857750" cy="45720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Long-form research articles (1500+ words) paired with interactive tools (DCA/Halving) to maximize dwell time and backlink potential.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15000" y="1151930"/>
            <a:ext cx="2857500" cy="24638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0" y="1151930"/>
            <a:ext cx="2857500" cy="28575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26" name="Text 23"/>
          <p:cNvSpPr/>
          <p:nvPr/>
        </p:nvSpPr>
        <p:spPr>
          <a:xfrm>
            <a:off x="5929313" y="1366242"/>
            <a:ext cx="2428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29313" y="1727002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CHANNELS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929313" y="1884164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(Twitter) for high-signal threads; YouTube for visual protocol walkthroughs.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929313" y="2347057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 NETWORK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929313" y="2504219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50/50 affiliate split with Bitcoin-only creators for organic reach.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29313" y="2967112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PROTOCOL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929313" y="3124274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Nurture sequences mapping the "Fiat Leak" to "The Blueprint" enrollment.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2026-05-15T22:27:19Z</dcterms:created>
  <dcterms:modified xsi:type="dcterms:W3CDTF">2026-05-15T22:27:19Z</dcterms:modified>
</cp:coreProperties>
</file>